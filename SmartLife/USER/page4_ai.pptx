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9" Type="http://schemas.openxmlformats.org/officeDocument/2006/relationships/slideLayout" Target="../slideLayouts/slideLayout7.xml"/><Relationship Id="rId58" Type="http://schemas.openxmlformats.org/officeDocument/2006/relationships/tags" Target="../tags/tag52.xml"/><Relationship Id="rId57" Type="http://schemas.openxmlformats.org/officeDocument/2006/relationships/tags" Target="../tags/tag51.xml"/><Relationship Id="rId56" Type="http://schemas.openxmlformats.org/officeDocument/2006/relationships/tags" Target="../tags/tag50.xml"/><Relationship Id="rId55" Type="http://schemas.openxmlformats.org/officeDocument/2006/relationships/tags" Target="../tags/tag49.xml"/><Relationship Id="rId54" Type="http://schemas.openxmlformats.org/officeDocument/2006/relationships/tags" Target="../tags/tag48.xml"/><Relationship Id="rId53" Type="http://schemas.openxmlformats.org/officeDocument/2006/relationships/tags" Target="../tags/tag47.xml"/><Relationship Id="rId52" Type="http://schemas.openxmlformats.org/officeDocument/2006/relationships/tags" Target="../tags/tag46.xml"/><Relationship Id="rId51" Type="http://schemas.openxmlformats.org/officeDocument/2006/relationships/tags" Target="../tags/tag45.xml"/><Relationship Id="rId50" Type="http://schemas.openxmlformats.org/officeDocument/2006/relationships/tags" Target="../tags/tag44.xml"/><Relationship Id="rId5" Type="http://schemas.openxmlformats.org/officeDocument/2006/relationships/tags" Target="../tags/tag5.xml"/><Relationship Id="rId49" Type="http://schemas.openxmlformats.org/officeDocument/2006/relationships/tags" Target="../tags/tag43.xml"/><Relationship Id="rId48" Type="http://schemas.openxmlformats.org/officeDocument/2006/relationships/tags" Target="../tags/tag42.xml"/><Relationship Id="rId47" Type="http://schemas.openxmlformats.org/officeDocument/2006/relationships/tags" Target="../tags/tag41.xml"/><Relationship Id="rId46" Type="http://schemas.openxmlformats.org/officeDocument/2006/relationships/tags" Target="../tags/tag40.xml"/><Relationship Id="rId45" Type="http://schemas.openxmlformats.org/officeDocument/2006/relationships/tags" Target="../tags/tag39.xml"/><Relationship Id="rId44" Type="http://schemas.openxmlformats.org/officeDocument/2006/relationships/tags" Target="../tags/tag38.xml"/><Relationship Id="rId43" Type="http://schemas.openxmlformats.org/officeDocument/2006/relationships/tags" Target="../tags/tag37.xml"/><Relationship Id="rId42" Type="http://schemas.openxmlformats.org/officeDocument/2006/relationships/tags" Target="../tags/tag36.xml"/><Relationship Id="rId41" Type="http://schemas.openxmlformats.org/officeDocument/2006/relationships/tags" Target="../tags/tag35.xml"/><Relationship Id="rId40" Type="http://schemas.openxmlformats.org/officeDocument/2006/relationships/tags" Target="../tags/tag34.xml"/><Relationship Id="rId4" Type="http://schemas.openxmlformats.org/officeDocument/2006/relationships/tags" Target="../tags/tag4.xml"/><Relationship Id="rId39" Type="http://schemas.openxmlformats.org/officeDocument/2006/relationships/tags" Target="../tags/tag33.xml"/><Relationship Id="rId38" Type="http://schemas.openxmlformats.org/officeDocument/2006/relationships/tags" Target="../tags/tag32.xml"/><Relationship Id="rId37" Type="http://schemas.openxmlformats.org/officeDocument/2006/relationships/tags" Target="../tags/tag31.xml"/><Relationship Id="rId36" Type="http://schemas.openxmlformats.org/officeDocument/2006/relationships/tags" Target="../tags/tag30.xml"/><Relationship Id="rId35" Type="http://schemas.openxmlformats.org/officeDocument/2006/relationships/tags" Target="../tags/tag29.xml"/><Relationship Id="rId34" Type="http://schemas.openxmlformats.org/officeDocument/2006/relationships/tags" Target="../tags/tag28.xml"/><Relationship Id="rId33" Type="http://schemas.openxmlformats.org/officeDocument/2006/relationships/tags" Target="../tags/tag27.xml"/><Relationship Id="rId32" Type="http://schemas.openxmlformats.org/officeDocument/2006/relationships/tags" Target="../tags/tag26.xml"/><Relationship Id="rId31" Type="http://schemas.openxmlformats.org/officeDocument/2006/relationships/tags" Target="../tags/tag25.xml"/><Relationship Id="rId30" Type="http://schemas.openxmlformats.org/officeDocument/2006/relationships/tags" Target="../tags/tag24.xml"/><Relationship Id="rId3" Type="http://schemas.openxmlformats.org/officeDocument/2006/relationships/tags" Target="../tags/tag3.xml"/><Relationship Id="rId29" Type="http://schemas.openxmlformats.org/officeDocument/2006/relationships/tags" Target="../tags/tag23.xml"/><Relationship Id="rId28" Type="http://schemas.openxmlformats.org/officeDocument/2006/relationships/tags" Target="../tags/tag22.xml"/><Relationship Id="rId27" Type="http://schemas.openxmlformats.org/officeDocument/2006/relationships/tags" Target="../tags/tag21.xml"/><Relationship Id="rId26" Type="http://schemas.openxmlformats.org/officeDocument/2006/relationships/tags" Target="../tags/tag20.xml"/><Relationship Id="rId25" Type="http://schemas.openxmlformats.org/officeDocument/2006/relationships/tags" Target="../tags/tag19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tags" Target="../tags/tag15.xml"/><Relationship Id="rId20" Type="http://schemas.openxmlformats.org/officeDocument/2006/relationships/tags" Target="../tags/tag14.xml"/><Relationship Id="rId2" Type="http://schemas.openxmlformats.org/officeDocument/2006/relationships/tags" Target="../tags/tag2.xml"/><Relationship Id="rId19" Type="http://schemas.openxmlformats.org/officeDocument/2006/relationships/image" Target="../media/image6.svg"/><Relationship Id="rId18" Type="http://schemas.openxmlformats.org/officeDocument/2006/relationships/image" Target="../media/image5.png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image" Target="../media/image4.svg"/><Relationship Id="rId12" Type="http://schemas.openxmlformats.org/officeDocument/2006/relationships/image" Target="../media/image3.pn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0F2F5"/>
              </a:gs>
              <a:gs pos="100000">
                <a:srgbClr val="E2E8F0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>
            <a:off x="457200" y="5734050"/>
            <a:ext cx="11277600" cy="666750"/>
            <a:chOff x="720" y="9030"/>
            <a:chExt cx="17760" cy="1050"/>
          </a:xfrm>
        </p:grpSpPr>
        <p:sp>
          <p:nvSpPr>
            <p:cNvPr id="44" name="任意多边形 43"/>
            <p:cNvSpPr/>
            <p:nvPr>
              <p:custDataLst>
                <p:tags r:id="rId2"/>
              </p:custDataLst>
            </p:nvPr>
          </p:nvSpPr>
          <p:spPr>
            <a:xfrm>
              <a:off x="720" y="9030"/>
              <a:ext cx="17760" cy="1050"/>
            </a:xfrm>
            <a:custGeom>
              <a:avLst/>
              <a:gdLst>
                <a:gd name="sw" fmla="*/ 1 w 17760"/>
                <a:gd name="sh" fmla="*/ 1 h 1050"/>
                <a:gd name="mins" fmla="min sw sh"/>
                <a:gd name="dsw" fmla="+- 0 sw mins"/>
                <a:gd name="dsh" fmla="+- 0 sh mins"/>
                <a:gd name="p0x0" fmla="*/ 0 w 17760"/>
                <a:gd name="p0y0" fmla="*/ 0 h 1050"/>
                <a:gd name="p0x1" fmla="*/ 17760 w 17760"/>
                <a:gd name="p0y1" fmla="*/ 0 h 1050"/>
                <a:gd name="p0x2" fmla="*/ 17760 w 17760"/>
                <a:gd name="p0y2" fmla="*/ 1050 h 1050"/>
                <a:gd name="p0x3" fmla="*/ 0 w 17760"/>
                <a:gd name="p0y3" fmla="*/ 1050 h 1050"/>
                <a:gd name="p0x4" fmla="*/ 0 w 17760"/>
                <a:gd name="p0y4" fmla="*/ 0 h 10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>
              <p:custDataLst>
                <p:tags r:id="rId3"/>
              </p:custDataLst>
            </p:nvPr>
          </p:nvSpPr>
          <p:spPr>
            <a:xfrm>
              <a:off x="720" y="9030"/>
              <a:ext cx="17760" cy="15"/>
            </a:xfrm>
            <a:custGeom>
              <a:avLst/>
              <a:gdLst>
                <a:gd name="sw" fmla="*/ 1 w 17760"/>
                <a:gd name="sh" fmla="*/ 1 h 15"/>
                <a:gd name="mins" fmla="min sw sh"/>
                <a:gd name="dsw" fmla="+- 0 sw mins"/>
                <a:gd name="dsh" fmla="+- 0 sh mins"/>
                <a:gd name="p0x0" fmla="*/ 0 w 17760"/>
                <a:gd name="p0y0" fmla="*/ 0 h 15"/>
                <a:gd name="p0x1" fmla="*/ 17760 w 17760"/>
                <a:gd name="p0y1" fmla="*/ 0 h 15"/>
                <a:gd name="p0x2" fmla="*/ 17760 w 17760"/>
                <a:gd name="p0y2" fmla="*/ 15 h 15"/>
                <a:gd name="p0x3" fmla="*/ 0 w 17760"/>
                <a:gd name="p0y3" fmla="*/ 15 h 15"/>
                <a:gd name="p0x4" fmla="*/ 0 w 1776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7" name="任意多边形 46"/>
          <p:cNvSpPr/>
          <p:nvPr>
            <p:custDataLst>
              <p:tags r:id="rId4"/>
            </p:custDataLst>
          </p:nvPr>
        </p:nvSpPr>
        <p:spPr>
          <a:xfrm>
            <a:off x="3242945" y="59575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373" t="-5263" r="-1373" b="-5263"/>
          <a:stretch>
            <a:fillRect/>
          </a:stretch>
        </p:blipFill>
        <p:spPr>
          <a:xfrm>
            <a:off x="3369310" y="6067425"/>
            <a:ext cx="166370" cy="200025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8"/>
            </p:custDataLst>
          </p:nvPr>
        </p:nvSpPr>
        <p:spPr>
          <a:xfrm>
            <a:off x="3776663" y="5934075"/>
            <a:ext cx="1200150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</a:rPr>
              <a:t>火焰传感器当前值</a:t>
            </a:r>
            <a:endParaRPr sz="1050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9"/>
            </p:custDataLst>
          </p:nvPr>
        </p:nvSpPr>
        <p:spPr>
          <a:xfrm>
            <a:off x="3776663" y="6138863"/>
            <a:ext cx="66675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</a:rPr>
              <a:t>0.2%</a:t>
            </a:r>
            <a:endParaRPr sz="1500" b="1">
              <a:solidFill>
                <a:srgbClr val="1E293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10"/>
            </p:custDataLst>
          </p:nvPr>
        </p:nvSpPr>
        <p:spPr>
          <a:xfrm>
            <a:off x="5414645" y="59575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7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2" name="图片 5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-2500" b="-2500"/>
          <a:stretch>
            <a:fillRect/>
          </a:stretch>
        </p:blipFill>
        <p:spPr>
          <a:xfrm>
            <a:off x="5528945" y="6067425"/>
            <a:ext cx="190500" cy="200025"/>
          </a:xfrm>
          <a:prstGeom prst="rect">
            <a:avLst/>
          </a:prstGeom>
        </p:spPr>
      </p:pic>
      <p:sp>
        <p:nvSpPr>
          <p:cNvPr id="53" name="文本框 52"/>
          <p:cNvSpPr txBox="1"/>
          <p:nvPr>
            <p:custDataLst>
              <p:tags r:id="rId14"/>
            </p:custDataLst>
          </p:nvPr>
        </p:nvSpPr>
        <p:spPr>
          <a:xfrm>
            <a:off x="5948363" y="5934075"/>
            <a:ext cx="1066800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</a:rPr>
              <a:t>光敏电阻当前值</a:t>
            </a:r>
            <a:endParaRPr sz="1050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5"/>
            </p:custDataLst>
          </p:nvPr>
        </p:nvSpPr>
        <p:spPr>
          <a:xfrm>
            <a:off x="5948363" y="6138863"/>
            <a:ext cx="78105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</a:rPr>
              <a:t>30.2%</a:t>
            </a:r>
            <a:endParaRPr sz="1500" b="1">
              <a:solidFill>
                <a:srgbClr val="1E293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16"/>
            </p:custDataLst>
          </p:nvPr>
        </p:nvSpPr>
        <p:spPr>
          <a:xfrm>
            <a:off x="7452995" y="59575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-2500" b="-2500"/>
          <a:stretch>
            <a:fillRect/>
          </a:stretch>
        </p:blipFill>
        <p:spPr>
          <a:xfrm>
            <a:off x="7567295" y="6067425"/>
            <a:ext cx="190500" cy="200025"/>
          </a:xfrm>
          <a:prstGeom prst="rect">
            <a:avLst/>
          </a:prstGeom>
        </p:spPr>
      </p:pic>
      <p:sp>
        <p:nvSpPr>
          <p:cNvPr id="57" name="文本框 56"/>
          <p:cNvSpPr txBox="1"/>
          <p:nvPr>
            <p:custDataLst>
              <p:tags r:id="rId20"/>
            </p:custDataLst>
          </p:nvPr>
        </p:nvSpPr>
        <p:spPr>
          <a:xfrm>
            <a:off x="7986713" y="5934075"/>
            <a:ext cx="962025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</a:rPr>
              <a:t>数据刷新频率</a:t>
            </a:r>
            <a:endParaRPr sz="1050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21"/>
            </p:custDataLst>
          </p:nvPr>
        </p:nvSpPr>
        <p:spPr>
          <a:xfrm>
            <a:off x="7986713" y="6138863"/>
            <a:ext cx="1152525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5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 Hz (</a:t>
            </a:r>
            <a:r>
              <a:rPr lang="zh-CN" altLang="en-US" sz="15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每秒</a:t>
            </a:r>
            <a:r>
              <a:rPr lang="en-US" altLang="zh-CN" sz="15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)</a:t>
            </a:r>
            <a:endParaRPr lang="en-US" altLang="zh-CN" sz="1500" b="1">
              <a:solidFill>
                <a:srgbClr val="1E293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2"/>
            </p:custDataLst>
          </p:nvPr>
        </p:nvSpPr>
        <p:spPr>
          <a:xfrm>
            <a:off x="9810750" y="-476250"/>
            <a:ext cx="2857500" cy="2857500"/>
          </a:xfrm>
          <a:custGeom>
            <a:avLst/>
            <a:gdLst>
              <a:gd name="sw" fmla="*/ 1 w 4500"/>
              <a:gd name="sh" fmla="*/ 1 h 4500"/>
              <a:gd name="mins" fmla="min sw sh"/>
              <a:gd name="dsw" fmla="+- 0 sw mins"/>
              <a:gd name="dsh" fmla="+- 0 sh mins"/>
              <a:gd name="p0x0" fmla="*/ 2250 w 4500"/>
              <a:gd name="p0y0" fmla="*/ 0 h 4500"/>
              <a:gd name="p0x1" fmla="*/ 3492 w 4500"/>
              <a:gd name="p0y1" fmla="*/ 0 h 4500"/>
              <a:gd name="p0x2" fmla="*/ 4500 w 4500"/>
              <a:gd name="p0y2" fmla="*/ 1007 h 4500"/>
              <a:gd name="p0x3" fmla="*/ 4500 w 4500"/>
              <a:gd name="p0y3" fmla="*/ 2250 h 4500"/>
              <a:gd name="p0x4" fmla="*/ 4500 w 4500"/>
              <a:gd name="p0y4" fmla="*/ 3492 h 4500"/>
              <a:gd name="p0x5" fmla="*/ 3492 w 4500"/>
              <a:gd name="p0y5" fmla="*/ 4500 h 4500"/>
              <a:gd name="p0x6" fmla="*/ 2250 w 4500"/>
              <a:gd name="p0y6" fmla="*/ 4500 h 4500"/>
              <a:gd name="p0x7" fmla="*/ 1007 w 4500"/>
              <a:gd name="p0y7" fmla="*/ 4500 h 4500"/>
              <a:gd name="p0x8" fmla="*/ 0 w 4500"/>
              <a:gd name="p0y8" fmla="*/ 3492 h 4500"/>
              <a:gd name="p0x9" fmla="*/ 0 w 4500"/>
              <a:gd name="p0y9" fmla="*/ 2250 h 4500"/>
              <a:gd name="p0x10" fmla="*/ 0 w 4500"/>
              <a:gd name="p0y10" fmla="*/ 1007 h 4500"/>
              <a:gd name="p0x11" fmla="*/ 1007 w 4500"/>
              <a:gd name="p0y11" fmla="*/ 0 h 4500"/>
              <a:gd name="p0x12" fmla="*/ 2250 w 4500"/>
              <a:gd name="p0y12" fmla="*/ 0 h 45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59669">
              <a:alpha val="3137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23"/>
            </p:custDataLst>
          </p:nvPr>
        </p:nvSpPr>
        <p:spPr>
          <a:xfrm>
            <a:off x="-476250" y="4476750"/>
            <a:ext cx="1905000" cy="1905000"/>
          </a:xfrm>
          <a:custGeom>
            <a:avLst/>
            <a:gdLst>
              <a:gd name="sw" fmla="*/ 1 w 3000"/>
              <a:gd name="sh" fmla="*/ 1 h 3000"/>
              <a:gd name="mins" fmla="min sw sh"/>
              <a:gd name="dsw" fmla="+- 0 sw mins"/>
              <a:gd name="dsh" fmla="+- 0 sh mins"/>
              <a:gd name="p0x0" fmla="*/ 1500 w 3000"/>
              <a:gd name="p0y0" fmla="*/ 0 h 3000"/>
              <a:gd name="p0x1" fmla="*/ 2328 w 3000"/>
              <a:gd name="p0y1" fmla="*/ 0 h 3000"/>
              <a:gd name="p0x2" fmla="*/ 3000 w 3000"/>
              <a:gd name="p0y2" fmla="*/ 671 h 3000"/>
              <a:gd name="p0x3" fmla="*/ 3000 w 3000"/>
              <a:gd name="p0y3" fmla="*/ 1500 h 3000"/>
              <a:gd name="p0x4" fmla="*/ 3000 w 3000"/>
              <a:gd name="p0y4" fmla="*/ 2328 h 3000"/>
              <a:gd name="p0x5" fmla="*/ 2328 w 3000"/>
              <a:gd name="p0y5" fmla="*/ 3000 h 3000"/>
              <a:gd name="p0x6" fmla="*/ 1500 w 3000"/>
              <a:gd name="p0y6" fmla="*/ 3000 h 3000"/>
              <a:gd name="p0x7" fmla="*/ 671 w 3000"/>
              <a:gd name="p0y7" fmla="*/ 3000 h 3000"/>
              <a:gd name="p0x8" fmla="*/ 0 w 3000"/>
              <a:gd name="p0y8" fmla="*/ 2328 h 3000"/>
              <a:gd name="p0x9" fmla="*/ 0 w 3000"/>
              <a:gd name="p0y9" fmla="*/ 1500 h 3000"/>
              <a:gd name="p0x10" fmla="*/ 0 w 3000"/>
              <a:gd name="p0y10" fmla="*/ 671 h 3000"/>
              <a:gd name="p0x11" fmla="*/ 671 w 3000"/>
              <a:gd name="p0y11" fmla="*/ 0 h 3000"/>
              <a:gd name="p0x12" fmla="*/ 1500 w 3000"/>
              <a:gd name="p0y12" fmla="*/ 0 h 30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A580C">
              <a:alpha val="3137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24"/>
            </p:custDataLst>
          </p:nvPr>
        </p:nvSpPr>
        <p:spPr>
          <a:xfrm>
            <a:off x="457200" y="409575"/>
            <a:ext cx="9729788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界面四：传感器数据页（</a:t>
            </a:r>
            <a:r>
              <a:rPr lang="en-US" altLang="zh-CN" sz="30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Page_Sensor</a:t>
            </a:r>
            <a:r>
              <a:rPr lang="zh-CN" altLang="en-US" sz="30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）</a:t>
            </a:r>
            <a:r>
              <a:rPr lang="en-US" altLang="zh-CN" sz="30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— </a:t>
            </a:r>
            <a:r>
              <a:rPr lang="zh-CN" altLang="en-US" sz="30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实时数据</a:t>
            </a:r>
            <a:endParaRPr lang="zh-CN" altLang="en-US" sz="3000" b="1">
              <a:solidFill>
                <a:srgbClr val="1E293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25"/>
            </p:custDataLst>
          </p:nvPr>
        </p:nvSpPr>
        <p:spPr>
          <a:xfrm>
            <a:off x="457200" y="1162050"/>
            <a:ext cx="11277600" cy="4381500"/>
          </a:xfrm>
          <a:custGeom>
            <a:avLst/>
            <a:gdLst>
              <a:gd name="sw" fmla="*/ 1 w 17760"/>
              <a:gd name="sh" fmla="*/ 1 h 6900"/>
              <a:gd name="mins" fmla="min sw sh"/>
              <a:gd name="dsw" fmla="+- 0 sw mins"/>
              <a:gd name="dsh" fmla="+- 0 sh mins"/>
              <a:gd name="p0x0" fmla="*/ 240 w 17760"/>
              <a:gd name="p0y0" fmla="*/ 0 h 6900"/>
              <a:gd name="p0x1" fmla="*/ 17520 w 17760"/>
              <a:gd name="p0y1" fmla="*/ 0 h 6900"/>
              <a:gd name="p0x2" fmla="*/ 17652 w 17760"/>
              <a:gd name="p0y2" fmla="*/ 0 h 6900"/>
              <a:gd name="p0x3" fmla="*/ 17760 w 17760"/>
              <a:gd name="p0y3" fmla="*/ 107 h 6900"/>
              <a:gd name="p0x4" fmla="*/ 17760 w 17760"/>
              <a:gd name="p0y4" fmla="*/ 240 h 6900"/>
              <a:gd name="p0x5" fmla="*/ 17760 w 17760"/>
              <a:gd name="p0y5" fmla="*/ 6660 h 6900"/>
              <a:gd name="p0x6" fmla="*/ 17760 w 17760"/>
              <a:gd name="p0y6" fmla="*/ 6792 h 6900"/>
              <a:gd name="p0x7" fmla="*/ 17652 w 17760"/>
              <a:gd name="p0y7" fmla="*/ 6900 h 6900"/>
              <a:gd name="p0x8" fmla="*/ 17520 w 17760"/>
              <a:gd name="p0y8" fmla="*/ 6900 h 6900"/>
              <a:gd name="p0x9" fmla="*/ 240 w 17760"/>
              <a:gd name="p0y9" fmla="*/ 6900 h 6900"/>
              <a:gd name="p0x10" fmla="*/ 107 w 17760"/>
              <a:gd name="p0y10" fmla="*/ 6900 h 6900"/>
              <a:gd name="p0x11" fmla="*/ 0 w 17760"/>
              <a:gd name="p0y11" fmla="*/ 6792 h 6900"/>
              <a:gd name="p0x12" fmla="*/ 0 w 17760"/>
              <a:gd name="p0y12" fmla="*/ 6660 h 6900"/>
              <a:gd name="p0x13" fmla="*/ 0 w 17760"/>
              <a:gd name="p0y13" fmla="*/ 240 h 6900"/>
              <a:gd name="p0x14" fmla="*/ 0 w 17760"/>
              <a:gd name="p0y14" fmla="*/ 107 h 6900"/>
              <a:gd name="p0x15" fmla="*/ 107 w 17760"/>
              <a:gd name="p0y15" fmla="*/ 0 h 6900"/>
              <a:gd name="p0x16" fmla="*/ 240 w 17760"/>
              <a:gd name="p0y16" fmla="*/ 0 h 69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57188" dist="95250" dir="5399999" sx="99155" sy="97826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26"/>
            </p:custDataLst>
          </p:nvPr>
        </p:nvSpPr>
        <p:spPr>
          <a:xfrm>
            <a:off x="781050" y="1485900"/>
            <a:ext cx="3390900" cy="4533900"/>
          </a:xfrm>
          <a:custGeom>
            <a:avLst/>
            <a:gdLst>
              <a:gd name="sw" fmla="*/ 1 w 5340"/>
              <a:gd name="sh" fmla="*/ 1 h 7140"/>
              <a:gd name="mins" fmla="min sw sh"/>
              <a:gd name="dsw" fmla="+- 0 sw mins"/>
              <a:gd name="dsh" fmla="+- 0 sh mins"/>
              <a:gd name="p0x0" fmla="*/ 120 w 5340"/>
              <a:gd name="p0y0" fmla="*/ 0 h 7140"/>
              <a:gd name="p0x1" fmla="*/ 5220 w 5340"/>
              <a:gd name="p0y1" fmla="*/ 0 h 7140"/>
              <a:gd name="p0x2" fmla="*/ 5286 w 5340"/>
              <a:gd name="p0y2" fmla="*/ 0 h 7140"/>
              <a:gd name="p0x3" fmla="*/ 5340 w 5340"/>
              <a:gd name="p0y3" fmla="*/ 53 h 7140"/>
              <a:gd name="p0x4" fmla="*/ 5340 w 5340"/>
              <a:gd name="p0y4" fmla="*/ 120 h 7140"/>
              <a:gd name="p0x5" fmla="*/ 5340 w 5340"/>
              <a:gd name="p0y5" fmla="*/ 7020 h 7140"/>
              <a:gd name="p0x6" fmla="*/ 5340 w 5340"/>
              <a:gd name="p0y6" fmla="*/ 7086 h 7140"/>
              <a:gd name="p0x7" fmla="*/ 5286 w 5340"/>
              <a:gd name="p0y7" fmla="*/ 7140 h 7140"/>
              <a:gd name="p0x8" fmla="*/ 5220 w 5340"/>
              <a:gd name="p0y8" fmla="*/ 7140 h 7140"/>
              <a:gd name="p0x9" fmla="*/ 120 w 5340"/>
              <a:gd name="p0y9" fmla="*/ 7140 h 7140"/>
              <a:gd name="p0x10" fmla="*/ 53 w 5340"/>
              <a:gd name="p0y10" fmla="*/ 7140 h 7140"/>
              <a:gd name="p0x11" fmla="*/ 0 w 5340"/>
              <a:gd name="p0y11" fmla="*/ 7086 h 7140"/>
              <a:gd name="p0x12" fmla="*/ 0 w 5340"/>
              <a:gd name="p0y12" fmla="*/ 7020 h 7140"/>
              <a:gd name="p0x13" fmla="*/ 0 w 5340"/>
              <a:gd name="p0y13" fmla="*/ 120 h 7140"/>
              <a:gd name="p0x14" fmla="*/ 0 w 5340"/>
              <a:gd name="p0y14" fmla="*/ 53 h 7140"/>
              <a:gd name="p0x15" fmla="*/ 53 w 5340"/>
              <a:gd name="p0y15" fmla="*/ 0 h 7140"/>
              <a:gd name="p0x16" fmla="*/ 120 w 5340"/>
              <a:gd name="p0y16" fmla="*/ 0 h 71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38100" cmpd="sng">
            <a:solidFill>
              <a:srgbClr val="334155"/>
            </a:solidFill>
            <a:prstDash val="solid"/>
          </a:ln>
          <a:effectLst>
            <a:outerShdw blurRad="85725" dist="38100" dir="5399999" sx="99438" sy="99580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27"/>
            </p:custDataLst>
          </p:nvPr>
        </p:nvSpPr>
        <p:spPr>
          <a:xfrm>
            <a:off x="1789062" y="1885950"/>
            <a:ext cx="1603477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DC2626"/>
                </a:solidFill>
                <a:latin typeface="Microsoft YaHei" panose="020B0503020204020204" charset="-122"/>
                <a:ea typeface="Microsoft YaHei" panose="020B0503020204020204" charset="-122"/>
              </a:rPr>
              <a:t>Sensor_data</a:t>
            </a:r>
            <a:endParaRPr b="1">
              <a:solidFill>
                <a:srgbClr val="DC262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28"/>
            </p:custDataLst>
          </p:nvPr>
        </p:nvSpPr>
        <p:spPr>
          <a:xfrm>
            <a:off x="1181100" y="2566988"/>
            <a:ext cx="25908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rgbClr val="DC2626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火焰传感器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:</a:t>
            </a:r>
            <a:endParaRPr lang="en-US" altLang="zh-CN" sz="1500" b="1">
              <a:solidFill>
                <a:srgbClr val="DC2626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9"/>
            </p:custDataLst>
          </p:nvPr>
        </p:nvSpPr>
        <p:spPr>
          <a:xfrm>
            <a:off x="1276350" y="2895600"/>
            <a:ext cx="249555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DC2626"/>
                </a:solidFill>
                <a:latin typeface="Microsoft YaHei" panose="020B0503020204020204" charset="-122"/>
                <a:ea typeface="Microsoft YaHei" panose="020B0503020204020204" charset="-122"/>
              </a:rPr>
              <a:t>0.2%</a:t>
            </a:r>
            <a:endParaRPr sz="2100" b="1">
              <a:solidFill>
                <a:srgbClr val="DC262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30"/>
            </p:custDataLst>
          </p:nvPr>
        </p:nvSpPr>
        <p:spPr>
          <a:xfrm>
            <a:off x="1181100" y="3533775"/>
            <a:ext cx="25908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rgbClr val="DC2626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光敏电阻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:</a:t>
            </a:r>
            <a:endParaRPr lang="en-US" altLang="zh-CN" sz="1500" b="1">
              <a:solidFill>
                <a:srgbClr val="DC2626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31"/>
            </p:custDataLst>
          </p:nvPr>
        </p:nvSpPr>
        <p:spPr>
          <a:xfrm>
            <a:off x="1276350" y="3862388"/>
            <a:ext cx="249555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DC2626"/>
                </a:solidFill>
                <a:latin typeface="Microsoft YaHei" panose="020B0503020204020204" charset="-122"/>
                <a:ea typeface="Microsoft YaHei" panose="020B0503020204020204" charset="-122"/>
              </a:rPr>
              <a:t>30.2%</a:t>
            </a:r>
            <a:endParaRPr sz="2100" b="1">
              <a:solidFill>
                <a:srgbClr val="DC262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32"/>
            </p:custDataLst>
          </p:nvPr>
        </p:nvSpPr>
        <p:spPr>
          <a:xfrm>
            <a:off x="1605039" y="5662613"/>
            <a:ext cx="1971456" cy="1476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900">
                <a:solidFill>
                  <a:srgbClr val="94A3B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240</a:t>
            </a:r>
            <a:r>
              <a:rPr lang="zh-CN" altLang="en-US" sz="900">
                <a:solidFill>
                  <a:srgbClr val="94A3B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×</a:t>
            </a:r>
            <a:r>
              <a:rPr lang="en-US" altLang="zh-CN" sz="900">
                <a:solidFill>
                  <a:srgbClr val="94A3B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320 LCD | current_page=3</a:t>
            </a:r>
            <a:endParaRPr lang="en-US" altLang="zh-CN" sz="900">
              <a:solidFill>
                <a:srgbClr val="94A3B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4495800" y="1466850"/>
            <a:ext cx="3371850" cy="1565910"/>
            <a:chOff x="7080" y="2310"/>
            <a:chExt cx="5310" cy="2466"/>
          </a:xfrm>
        </p:grpSpPr>
        <p:sp>
          <p:nvSpPr>
            <p:cNvPr id="14" name="任意多边形 13"/>
            <p:cNvSpPr/>
            <p:nvPr>
              <p:custDataLst>
                <p:tags r:id="rId33"/>
              </p:custDataLst>
            </p:nvPr>
          </p:nvSpPr>
          <p:spPr>
            <a:xfrm>
              <a:off x="7080" y="2310"/>
              <a:ext cx="5310" cy="2467"/>
            </a:xfrm>
            <a:custGeom>
              <a:avLst/>
              <a:gdLst>
                <a:gd name="sw" fmla="*/ 1 w 5310"/>
                <a:gd name="sh" fmla="*/ 1 h 2467"/>
                <a:gd name="mins" fmla="min sw sh"/>
                <a:gd name="dsw" fmla="+- 0 sw mins"/>
                <a:gd name="dsh" fmla="+- 0 sh mins"/>
                <a:gd name="p0x0" fmla="*/ 180 w 5310"/>
                <a:gd name="p0y0" fmla="*/ 0 h 2467"/>
                <a:gd name="p0x1" fmla="*/ 5130 w 5310"/>
                <a:gd name="p0y1" fmla="*/ 0 h 2467"/>
                <a:gd name="p0x2" fmla="*/ 5229 w 5310"/>
                <a:gd name="p0y2" fmla="*/ 0 h 2467"/>
                <a:gd name="p0x3" fmla="*/ 5310 w 5310"/>
                <a:gd name="p0y3" fmla="*/ 80 h 2467"/>
                <a:gd name="p0x4" fmla="*/ 5310 w 5310"/>
                <a:gd name="p0y4" fmla="*/ 180 h 2467"/>
                <a:gd name="p0x5" fmla="*/ 5310 w 5310"/>
                <a:gd name="p0y5" fmla="*/ 2287 h 2467"/>
                <a:gd name="p0x6" fmla="*/ 5310 w 5310"/>
                <a:gd name="p0y6" fmla="*/ 2386 h 2467"/>
                <a:gd name="p0x7" fmla="*/ 5229 w 5310"/>
                <a:gd name="p0y7" fmla="*/ 2467 h 2467"/>
                <a:gd name="p0x8" fmla="*/ 5130 w 5310"/>
                <a:gd name="p0y8" fmla="*/ 2467 h 2467"/>
                <a:gd name="p0x9" fmla="*/ 180 w 5310"/>
                <a:gd name="p0y9" fmla="*/ 2467 h 2467"/>
                <a:gd name="p0x10" fmla="*/ 80 w 5310"/>
                <a:gd name="p0y10" fmla="*/ 2467 h 2467"/>
                <a:gd name="p0x11" fmla="*/ 0 w 5310"/>
                <a:gd name="p0y11" fmla="*/ 2386 h 2467"/>
                <a:gd name="p0x12" fmla="*/ 0 w 5310"/>
                <a:gd name="p0y12" fmla="*/ 2287 h 2467"/>
                <a:gd name="p0x13" fmla="*/ 0 w 5310"/>
                <a:gd name="p0y13" fmla="*/ 180 h 2467"/>
                <a:gd name="p0x14" fmla="*/ 0 w 5310"/>
                <a:gd name="p0y14" fmla="*/ 80 h 2467"/>
                <a:gd name="p0x15" fmla="*/ 80 w 5310"/>
                <a:gd name="p0y15" fmla="*/ 0 h 2467"/>
                <a:gd name="p0x16" fmla="*/ 180 w 5310"/>
                <a:gd name="p0y16" fmla="*/ 0 h 2467"/>
              </a:gdLst>
              <a:ahLst/>
              <a:cxnLst/>
              <a:pathLst>
                <a:path w="5310" h="2467">
                  <a:moveTo>
                    <a:pt x="180" y="0"/>
                  </a:moveTo>
                  <a:lnTo>
                    <a:pt x="5130" y="0"/>
                  </a:lnTo>
                  <a:cubicBezTo>
                    <a:pt x="5229" y="0"/>
                    <a:pt x="5310" y="81"/>
                    <a:pt x="5310" y="180"/>
                  </a:cubicBezTo>
                  <a:lnTo>
                    <a:pt x="5310" y="2287"/>
                  </a:lnTo>
                  <a:cubicBezTo>
                    <a:pt x="5310" y="2386"/>
                    <a:pt x="5229" y="2467"/>
                    <a:pt x="5130" y="2467"/>
                  </a:cubicBezTo>
                  <a:lnTo>
                    <a:pt x="180" y="2467"/>
                  </a:lnTo>
                  <a:cubicBezTo>
                    <a:pt x="81" y="2467"/>
                    <a:pt x="0" y="2386"/>
                    <a:pt x="0" y="2287"/>
                  </a:cubicBez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>
              <p:custDataLst>
                <p:tags r:id="rId34"/>
              </p:custDataLst>
            </p:nvPr>
          </p:nvSpPr>
          <p:spPr>
            <a:xfrm>
              <a:off x="7080" y="2310"/>
              <a:ext cx="180" cy="2467"/>
            </a:xfrm>
            <a:custGeom>
              <a:avLst/>
              <a:gdLst>
                <a:gd name="sw" fmla="*/ 1 w 180"/>
                <a:gd name="sh" fmla="*/ 1 h 2467"/>
                <a:gd name="mins" fmla="min sw sh"/>
                <a:gd name="dsw" fmla="+- 0 sw mins"/>
                <a:gd name="dsh" fmla="+- 0 sh mins"/>
                <a:gd name="p0x0" fmla="*/ 0 w 180"/>
                <a:gd name="p0y0" fmla="*/ 2287 h 2467"/>
                <a:gd name="p0x1" fmla="*/ 0 w 180"/>
                <a:gd name="p0y1" fmla="*/ 180 h 2467"/>
                <a:gd name="p0x2" fmla="*/ 0 w 180"/>
                <a:gd name="p0y2" fmla="*/ 80 h 2467"/>
                <a:gd name="p0x3" fmla="*/ 80 w 180"/>
                <a:gd name="p0y3" fmla="*/ 0 h 2467"/>
                <a:gd name="p0x4" fmla="*/ 180 w 180"/>
                <a:gd name="p0y4" fmla="*/ 0 h 2467"/>
                <a:gd name="p0x5" fmla="*/ 113 w 180"/>
                <a:gd name="p0y5" fmla="*/ 0 h 2467"/>
                <a:gd name="p0x6" fmla="*/ 60 w 180"/>
                <a:gd name="p0y6" fmla="*/ 80 h 2467"/>
                <a:gd name="p0x7" fmla="*/ 60 w 180"/>
                <a:gd name="p0y7" fmla="*/ 180 h 2467"/>
                <a:gd name="p0x8" fmla="*/ 60 w 180"/>
                <a:gd name="p0y8" fmla="*/ 2287 h 2467"/>
                <a:gd name="p0x9" fmla="*/ 60 w 180"/>
                <a:gd name="p0y9" fmla="*/ 2386 h 2467"/>
                <a:gd name="p0x10" fmla="*/ 113 w 180"/>
                <a:gd name="p0y10" fmla="*/ 2467 h 2467"/>
                <a:gd name="p0x11" fmla="*/ 180 w 180"/>
                <a:gd name="p0y11" fmla="*/ 2467 h 2467"/>
                <a:gd name="p0x12" fmla="*/ 80 w 180"/>
                <a:gd name="p0y12" fmla="*/ 2467 h 2467"/>
                <a:gd name="p0x13" fmla="*/ 0 w 180"/>
                <a:gd name="p0y13" fmla="*/ 2386 h 2467"/>
                <a:gd name="p0x14" fmla="*/ 0 w 180"/>
                <a:gd name="p0y14" fmla="*/ 2287 h 2467"/>
              </a:gdLst>
              <a:ahLst/>
              <a:cxnLst/>
              <a:pathLst>
                <a:path w="180" h="2467">
                  <a:moveTo>
                    <a:pt x="0" y="2287"/>
                  </a:move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ubicBezTo>
                    <a:pt x="114" y="0"/>
                    <a:pt x="60" y="81"/>
                    <a:pt x="60" y="180"/>
                  </a:cubicBezTo>
                  <a:lnTo>
                    <a:pt x="60" y="2287"/>
                  </a:lnTo>
                  <a:cubicBezTo>
                    <a:pt x="60" y="2386"/>
                    <a:pt x="114" y="2467"/>
                    <a:pt x="180" y="2467"/>
                  </a:cubicBezTo>
                  <a:cubicBezTo>
                    <a:pt x="81" y="2467"/>
                    <a:pt x="0" y="2386"/>
                    <a:pt x="0" y="2287"/>
                  </a:cubicBez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9" name="任意多边形 18"/>
          <p:cNvSpPr/>
          <p:nvPr>
            <p:custDataLst>
              <p:tags r:id="rId35"/>
            </p:custDataLst>
          </p:nvPr>
        </p:nvSpPr>
        <p:spPr>
          <a:xfrm>
            <a:off x="4724400" y="2438400"/>
            <a:ext cx="2952750" cy="404495"/>
          </a:xfrm>
          <a:custGeom>
            <a:avLst/>
            <a:gdLst>
              <a:gd name="sw" fmla="*/ 1 w 4650"/>
              <a:gd name="sh" fmla="*/ 1 h 637"/>
              <a:gd name="mins" fmla="min sw sh"/>
              <a:gd name="dsw" fmla="+- 0 sw mins"/>
              <a:gd name="dsh" fmla="+- 0 sh mins"/>
              <a:gd name="p0x0" fmla="*/ 120 w 4650"/>
              <a:gd name="p0y0" fmla="*/ 0 h 637"/>
              <a:gd name="p0x1" fmla="*/ 4530 w 4650"/>
              <a:gd name="p0y1" fmla="*/ 0 h 637"/>
              <a:gd name="p0x2" fmla="*/ 4596 w 4650"/>
              <a:gd name="p0y2" fmla="*/ 0 h 637"/>
              <a:gd name="p0x3" fmla="*/ 4650 w 4650"/>
              <a:gd name="p0y3" fmla="*/ 53 h 637"/>
              <a:gd name="p0x4" fmla="*/ 4650 w 4650"/>
              <a:gd name="p0y4" fmla="*/ 120 h 637"/>
              <a:gd name="p0x5" fmla="*/ 4650 w 4650"/>
              <a:gd name="p0y5" fmla="*/ 517 h 637"/>
              <a:gd name="p0x6" fmla="*/ 4650 w 4650"/>
              <a:gd name="p0y6" fmla="*/ 583 h 637"/>
              <a:gd name="p0x7" fmla="*/ 4596 w 4650"/>
              <a:gd name="p0y7" fmla="*/ 637 h 637"/>
              <a:gd name="p0x8" fmla="*/ 4530 w 4650"/>
              <a:gd name="p0y8" fmla="*/ 637 h 637"/>
              <a:gd name="p0x9" fmla="*/ 120 w 4650"/>
              <a:gd name="p0y9" fmla="*/ 637 h 637"/>
              <a:gd name="p0x10" fmla="*/ 53 w 4650"/>
              <a:gd name="p0y10" fmla="*/ 637 h 637"/>
              <a:gd name="p0x11" fmla="*/ 0 w 4650"/>
              <a:gd name="p0y11" fmla="*/ 583 h 637"/>
              <a:gd name="p0x12" fmla="*/ 0 w 4650"/>
              <a:gd name="p0y12" fmla="*/ 517 h 637"/>
              <a:gd name="p0x13" fmla="*/ 0 w 4650"/>
              <a:gd name="p0y13" fmla="*/ 120 h 637"/>
              <a:gd name="p0x14" fmla="*/ 0 w 4650"/>
              <a:gd name="p0y14" fmla="*/ 53 h 637"/>
              <a:gd name="p0x15" fmla="*/ 53 w 4650"/>
              <a:gd name="p0y15" fmla="*/ 0 h 637"/>
              <a:gd name="p0x16" fmla="*/ 120 w 4650"/>
              <a:gd name="p0y16" fmla="*/ 0 h 6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36"/>
            </p:custDataLst>
          </p:nvPr>
        </p:nvSpPr>
        <p:spPr>
          <a:xfrm>
            <a:off x="4724400" y="1657350"/>
            <a:ext cx="2952750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</a:rPr>
              <a:t>火焰传感器数值</a:t>
            </a:r>
            <a:endParaRPr sz="1050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37"/>
            </p:custDataLst>
          </p:nvPr>
        </p:nvSpPr>
        <p:spPr>
          <a:xfrm>
            <a:off x="4724400" y="1924050"/>
            <a:ext cx="952500" cy="4381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</a:rPr>
              <a:t>0.2</a:t>
            </a:r>
            <a:r>
              <a:rPr sz="300"/>
              <a:t> </a:t>
            </a:r>
            <a:r>
              <a:rPr sz="1200" b="1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</a:rPr>
              <a:t>%</a:t>
            </a:r>
            <a:endParaRPr sz="1200" b="1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8"/>
            </p:custDataLst>
          </p:nvPr>
        </p:nvSpPr>
        <p:spPr>
          <a:xfrm>
            <a:off x="4876800" y="2552700"/>
            <a:ext cx="264795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05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flame = 100 - (ADC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×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100/4096)</a:t>
            </a:r>
            <a:endParaRPr lang="en-US" altLang="zh-CN" sz="1050">
              <a:solidFill>
                <a:srgbClr val="33415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8058150" y="1466850"/>
            <a:ext cx="3371850" cy="1565910"/>
            <a:chOff x="12690" y="2310"/>
            <a:chExt cx="5310" cy="2466"/>
          </a:xfrm>
        </p:grpSpPr>
        <p:sp>
          <p:nvSpPr>
            <p:cNvPr id="21" name="任意多边形 20"/>
            <p:cNvSpPr/>
            <p:nvPr>
              <p:custDataLst>
                <p:tags r:id="rId39"/>
              </p:custDataLst>
            </p:nvPr>
          </p:nvSpPr>
          <p:spPr>
            <a:xfrm>
              <a:off x="12690" y="2310"/>
              <a:ext cx="5310" cy="2467"/>
            </a:xfrm>
            <a:custGeom>
              <a:avLst/>
              <a:gdLst>
                <a:gd name="sw" fmla="*/ 1 w 5310"/>
                <a:gd name="sh" fmla="*/ 1 h 2467"/>
                <a:gd name="mins" fmla="min sw sh"/>
                <a:gd name="dsw" fmla="+- 0 sw mins"/>
                <a:gd name="dsh" fmla="+- 0 sh mins"/>
                <a:gd name="p0x0" fmla="*/ 180 w 5310"/>
                <a:gd name="p0y0" fmla="*/ 0 h 2467"/>
                <a:gd name="p0x1" fmla="*/ 5130 w 5310"/>
                <a:gd name="p0y1" fmla="*/ 0 h 2467"/>
                <a:gd name="p0x2" fmla="*/ 5229 w 5310"/>
                <a:gd name="p0y2" fmla="*/ 0 h 2467"/>
                <a:gd name="p0x3" fmla="*/ 5310 w 5310"/>
                <a:gd name="p0y3" fmla="*/ 80 h 2467"/>
                <a:gd name="p0x4" fmla="*/ 5310 w 5310"/>
                <a:gd name="p0y4" fmla="*/ 180 h 2467"/>
                <a:gd name="p0x5" fmla="*/ 5310 w 5310"/>
                <a:gd name="p0y5" fmla="*/ 2287 h 2467"/>
                <a:gd name="p0x6" fmla="*/ 5310 w 5310"/>
                <a:gd name="p0y6" fmla="*/ 2386 h 2467"/>
                <a:gd name="p0x7" fmla="*/ 5229 w 5310"/>
                <a:gd name="p0y7" fmla="*/ 2467 h 2467"/>
                <a:gd name="p0x8" fmla="*/ 5130 w 5310"/>
                <a:gd name="p0y8" fmla="*/ 2467 h 2467"/>
                <a:gd name="p0x9" fmla="*/ 180 w 5310"/>
                <a:gd name="p0y9" fmla="*/ 2467 h 2467"/>
                <a:gd name="p0x10" fmla="*/ 80 w 5310"/>
                <a:gd name="p0y10" fmla="*/ 2467 h 2467"/>
                <a:gd name="p0x11" fmla="*/ 0 w 5310"/>
                <a:gd name="p0y11" fmla="*/ 2386 h 2467"/>
                <a:gd name="p0x12" fmla="*/ 0 w 5310"/>
                <a:gd name="p0y12" fmla="*/ 2287 h 2467"/>
                <a:gd name="p0x13" fmla="*/ 0 w 5310"/>
                <a:gd name="p0y13" fmla="*/ 180 h 2467"/>
                <a:gd name="p0x14" fmla="*/ 0 w 5310"/>
                <a:gd name="p0y14" fmla="*/ 80 h 2467"/>
                <a:gd name="p0x15" fmla="*/ 80 w 5310"/>
                <a:gd name="p0y15" fmla="*/ 0 h 2467"/>
                <a:gd name="p0x16" fmla="*/ 180 w 5310"/>
                <a:gd name="p0y16" fmla="*/ 0 h 2467"/>
              </a:gdLst>
              <a:ahLst/>
              <a:cxnLst/>
              <a:pathLst>
                <a:path w="5310" h="2467">
                  <a:moveTo>
                    <a:pt x="180" y="0"/>
                  </a:moveTo>
                  <a:lnTo>
                    <a:pt x="5130" y="0"/>
                  </a:lnTo>
                  <a:cubicBezTo>
                    <a:pt x="5229" y="0"/>
                    <a:pt x="5310" y="81"/>
                    <a:pt x="5310" y="180"/>
                  </a:cubicBezTo>
                  <a:lnTo>
                    <a:pt x="5310" y="2287"/>
                  </a:lnTo>
                  <a:cubicBezTo>
                    <a:pt x="5310" y="2386"/>
                    <a:pt x="5229" y="2467"/>
                    <a:pt x="5130" y="2467"/>
                  </a:cubicBezTo>
                  <a:lnTo>
                    <a:pt x="180" y="2467"/>
                  </a:lnTo>
                  <a:cubicBezTo>
                    <a:pt x="81" y="2467"/>
                    <a:pt x="0" y="2386"/>
                    <a:pt x="0" y="2287"/>
                  </a:cubicBez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>
              <p:custDataLst>
                <p:tags r:id="rId40"/>
              </p:custDataLst>
            </p:nvPr>
          </p:nvSpPr>
          <p:spPr>
            <a:xfrm>
              <a:off x="12690" y="2310"/>
              <a:ext cx="180" cy="2467"/>
            </a:xfrm>
            <a:custGeom>
              <a:avLst/>
              <a:gdLst>
                <a:gd name="sw" fmla="*/ 1 w 180"/>
                <a:gd name="sh" fmla="*/ 1 h 2467"/>
                <a:gd name="mins" fmla="min sw sh"/>
                <a:gd name="dsw" fmla="+- 0 sw mins"/>
                <a:gd name="dsh" fmla="+- 0 sh mins"/>
                <a:gd name="p0x0" fmla="*/ 0 w 180"/>
                <a:gd name="p0y0" fmla="*/ 2287 h 2467"/>
                <a:gd name="p0x1" fmla="*/ 0 w 180"/>
                <a:gd name="p0y1" fmla="*/ 180 h 2467"/>
                <a:gd name="p0x2" fmla="*/ 0 w 180"/>
                <a:gd name="p0y2" fmla="*/ 80 h 2467"/>
                <a:gd name="p0x3" fmla="*/ 80 w 180"/>
                <a:gd name="p0y3" fmla="*/ 0 h 2467"/>
                <a:gd name="p0x4" fmla="*/ 180 w 180"/>
                <a:gd name="p0y4" fmla="*/ 0 h 2467"/>
                <a:gd name="p0x5" fmla="*/ 113 w 180"/>
                <a:gd name="p0y5" fmla="*/ 0 h 2467"/>
                <a:gd name="p0x6" fmla="*/ 60 w 180"/>
                <a:gd name="p0y6" fmla="*/ 80 h 2467"/>
                <a:gd name="p0x7" fmla="*/ 60 w 180"/>
                <a:gd name="p0y7" fmla="*/ 180 h 2467"/>
                <a:gd name="p0x8" fmla="*/ 60 w 180"/>
                <a:gd name="p0y8" fmla="*/ 2287 h 2467"/>
                <a:gd name="p0x9" fmla="*/ 60 w 180"/>
                <a:gd name="p0y9" fmla="*/ 2386 h 2467"/>
                <a:gd name="p0x10" fmla="*/ 113 w 180"/>
                <a:gd name="p0y10" fmla="*/ 2467 h 2467"/>
                <a:gd name="p0x11" fmla="*/ 180 w 180"/>
                <a:gd name="p0y11" fmla="*/ 2467 h 2467"/>
                <a:gd name="p0x12" fmla="*/ 80 w 180"/>
                <a:gd name="p0y12" fmla="*/ 2467 h 2467"/>
                <a:gd name="p0x13" fmla="*/ 0 w 180"/>
                <a:gd name="p0y13" fmla="*/ 2386 h 2467"/>
                <a:gd name="p0x14" fmla="*/ 0 w 180"/>
                <a:gd name="p0y14" fmla="*/ 2287 h 2467"/>
              </a:gdLst>
              <a:ahLst/>
              <a:cxnLst/>
              <a:pathLst>
                <a:path w="180" h="2467">
                  <a:moveTo>
                    <a:pt x="0" y="2287"/>
                  </a:move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ubicBezTo>
                    <a:pt x="114" y="0"/>
                    <a:pt x="60" y="81"/>
                    <a:pt x="60" y="180"/>
                  </a:cubicBezTo>
                  <a:lnTo>
                    <a:pt x="60" y="2287"/>
                  </a:lnTo>
                  <a:cubicBezTo>
                    <a:pt x="60" y="2386"/>
                    <a:pt x="114" y="2467"/>
                    <a:pt x="180" y="2467"/>
                  </a:cubicBezTo>
                  <a:cubicBezTo>
                    <a:pt x="81" y="2467"/>
                    <a:pt x="0" y="2386"/>
                    <a:pt x="0" y="2287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26" name="任意多边形 25"/>
          <p:cNvSpPr/>
          <p:nvPr>
            <p:custDataLst>
              <p:tags r:id="rId41"/>
            </p:custDataLst>
          </p:nvPr>
        </p:nvSpPr>
        <p:spPr>
          <a:xfrm>
            <a:off x="8286750" y="2438400"/>
            <a:ext cx="2952750" cy="404495"/>
          </a:xfrm>
          <a:custGeom>
            <a:avLst/>
            <a:gdLst>
              <a:gd name="sw" fmla="*/ 1 w 4650"/>
              <a:gd name="sh" fmla="*/ 1 h 637"/>
              <a:gd name="mins" fmla="min sw sh"/>
              <a:gd name="dsw" fmla="+- 0 sw mins"/>
              <a:gd name="dsh" fmla="+- 0 sh mins"/>
              <a:gd name="p0x0" fmla="*/ 120 w 4650"/>
              <a:gd name="p0y0" fmla="*/ 0 h 637"/>
              <a:gd name="p0x1" fmla="*/ 4530 w 4650"/>
              <a:gd name="p0y1" fmla="*/ 0 h 637"/>
              <a:gd name="p0x2" fmla="*/ 4596 w 4650"/>
              <a:gd name="p0y2" fmla="*/ 0 h 637"/>
              <a:gd name="p0x3" fmla="*/ 4650 w 4650"/>
              <a:gd name="p0y3" fmla="*/ 53 h 637"/>
              <a:gd name="p0x4" fmla="*/ 4650 w 4650"/>
              <a:gd name="p0y4" fmla="*/ 120 h 637"/>
              <a:gd name="p0x5" fmla="*/ 4650 w 4650"/>
              <a:gd name="p0y5" fmla="*/ 517 h 637"/>
              <a:gd name="p0x6" fmla="*/ 4650 w 4650"/>
              <a:gd name="p0y6" fmla="*/ 583 h 637"/>
              <a:gd name="p0x7" fmla="*/ 4596 w 4650"/>
              <a:gd name="p0y7" fmla="*/ 637 h 637"/>
              <a:gd name="p0x8" fmla="*/ 4530 w 4650"/>
              <a:gd name="p0y8" fmla="*/ 637 h 637"/>
              <a:gd name="p0x9" fmla="*/ 120 w 4650"/>
              <a:gd name="p0y9" fmla="*/ 637 h 637"/>
              <a:gd name="p0x10" fmla="*/ 53 w 4650"/>
              <a:gd name="p0y10" fmla="*/ 637 h 637"/>
              <a:gd name="p0x11" fmla="*/ 0 w 4650"/>
              <a:gd name="p0y11" fmla="*/ 583 h 637"/>
              <a:gd name="p0x12" fmla="*/ 0 w 4650"/>
              <a:gd name="p0y12" fmla="*/ 517 h 637"/>
              <a:gd name="p0x13" fmla="*/ 0 w 4650"/>
              <a:gd name="p0y13" fmla="*/ 120 h 637"/>
              <a:gd name="p0x14" fmla="*/ 0 w 4650"/>
              <a:gd name="p0y14" fmla="*/ 53 h 637"/>
              <a:gd name="p0x15" fmla="*/ 53 w 4650"/>
              <a:gd name="p0y15" fmla="*/ 0 h 637"/>
              <a:gd name="p0x16" fmla="*/ 120 w 4650"/>
              <a:gd name="p0y16" fmla="*/ 0 h 6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42"/>
            </p:custDataLst>
          </p:nvPr>
        </p:nvSpPr>
        <p:spPr>
          <a:xfrm>
            <a:off x="8286750" y="1657350"/>
            <a:ext cx="2952750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</a:rPr>
              <a:t>光敏电阻数值</a:t>
            </a:r>
            <a:endParaRPr sz="1050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43"/>
            </p:custDataLst>
          </p:nvPr>
        </p:nvSpPr>
        <p:spPr>
          <a:xfrm>
            <a:off x="8286750" y="1924050"/>
            <a:ext cx="1133475" cy="4381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</a:rPr>
              <a:t>30.2</a:t>
            </a:r>
            <a:r>
              <a:rPr sz="300"/>
              <a:t> </a:t>
            </a:r>
            <a:r>
              <a:rPr sz="1200" b="1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</a:rPr>
              <a:t>%</a:t>
            </a:r>
            <a:endParaRPr sz="1200" b="1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44"/>
            </p:custDataLst>
          </p:nvPr>
        </p:nvSpPr>
        <p:spPr>
          <a:xfrm>
            <a:off x="8439150" y="2552700"/>
            <a:ext cx="264795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05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light = 100 - (ADC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×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100/4096)</a:t>
            </a:r>
            <a:endParaRPr lang="en-US" altLang="zh-CN" sz="1050">
              <a:solidFill>
                <a:srgbClr val="33415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45"/>
            </p:custDataLst>
          </p:nvPr>
        </p:nvSpPr>
        <p:spPr>
          <a:xfrm>
            <a:off x="4495800" y="3223895"/>
            <a:ext cx="6934200" cy="2014855"/>
          </a:xfrm>
          <a:custGeom>
            <a:avLst/>
            <a:gdLst>
              <a:gd name="sw" fmla="*/ 1 w 10920"/>
              <a:gd name="sh" fmla="*/ 1 h 3172"/>
              <a:gd name="mins" fmla="min sw sh"/>
              <a:gd name="dsw" fmla="+- 0 sw mins"/>
              <a:gd name="dsh" fmla="+- 0 sh mins"/>
              <a:gd name="p0x0" fmla="*/ 180 w 10920"/>
              <a:gd name="p0y0" fmla="*/ 0 h 3172"/>
              <a:gd name="p0x1" fmla="*/ 10740 w 10920"/>
              <a:gd name="p0y1" fmla="*/ 0 h 3172"/>
              <a:gd name="p0x2" fmla="*/ 10839 w 10920"/>
              <a:gd name="p0y2" fmla="*/ 0 h 3172"/>
              <a:gd name="p0x3" fmla="*/ 10920 w 10920"/>
              <a:gd name="p0y3" fmla="*/ 80 h 3172"/>
              <a:gd name="p0x4" fmla="*/ 10920 w 10920"/>
              <a:gd name="p0y4" fmla="*/ 180 h 3172"/>
              <a:gd name="p0x5" fmla="*/ 10920 w 10920"/>
              <a:gd name="p0y5" fmla="*/ 2992 h 3172"/>
              <a:gd name="p0x6" fmla="*/ 10920 w 10920"/>
              <a:gd name="p0y6" fmla="*/ 3091 h 3172"/>
              <a:gd name="p0x7" fmla="*/ 10839 w 10920"/>
              <a:gd name="p0y7" fmla="*/ 3172 h 3172"/>
              <a:gd name="p0x8" fmla="*/ 10740 w 10920"/>
              <a:gd name="p0y8" fmla="*/ 3172 h 3172"/>
              <a:gd name="p0x9" fmla="*/ 180 w 10920"/>
              <a:gd name="p0y9" fmla="*/ 3172 h 3172"/>
              <a:gd name="p0x10" fmla="*/ 80 w 10920"/>
              <a:gd name="p0y10" fmla="*/ 3172 h 3172"/>
              <a:gd name="p0x11" fmla="*/ 0 w 10920"/>
              <a:gd name="p0y11" fmla="*/ 3091 h 3172"/>
              <a:gd name="p0x12" fmla="*/ 0 w 10920"/>
              <a:gd name="p0y12" fmla="*/ 2992 h 3172"/>
              <a:gd name="p0x13" fmla="*/ 0 w 10920"/>
              <a:gd name="p0y13" fmla="*/ 180 h 3172"/>
              <a:gd name="p0x14" fmla="*/ 0 w 10920"/>
              <a:gd name="p0y14" fmla="*/ 80 h 3172"/>
              <a:gd name="p0x15" fmla="*/ 80 w 10920"/>
              <a:gd name="p0y15" fmla="*/ 0 h 3172"/>
              <a:gd name="p0x16" fmla="*/ 180 w 10920"/>
              <a:gd name="p0y16" fmla="*/ 0 h 3172"/>
            </a:gdLst>
            <a:ahLst/>
            <a:cxnLst/>
            <a:pathLst>
              <a:path w="10920" h="3173">
                <a:moveTo>
                  <a:pt x="180" y="0"/>
                </a:moveTo>
                <a:lnTo>
                  <a:pt x="10740" y="0"/>
                </a:lnTo>
                <a:cubicBezTo>
                  <a:pt x="10839" y="0"/>
                  <a:pt x="10920" y="81"/>
                  <a:pt x="10920" y="180"/>
                </a:cubicBezTo>
                <a:lnTo>
                  <a:pt x="10920" y="2993"/>
                </a:lnTo>
                <a:cubicBezTo>
                  <a:pt x="10920" y="3092"/>
                  <a:pt x="10839" y="3173"/>
                  <a:pt x="10740" y="3173"/>
                </a:cubicBezTo>
                <a:lnTo>
                  <a:pt x="180" y="3173"/>
                </a:lnTo>
                <a:cubicBezTo>
                  <a:pt x="81" y="3173"/>
                  <a:pt x="0" y="3092"/>
                  <a:pt x="0" y="2993"/>
                </a:cubicBezTo>
                <a:lnTo>
                  <a:pt x="0" y="180"/>
                </a:lnTo>
                <a:cubicBezTo>
                  <a:pt x="0" y="81"/>
                  <a:pt x="81" y="0"/>
                  <a:pt x="180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46"/>
            </p:custDataLst>
          </p:nvPr>
        </p:nvSpPr>
        <p:spPr>
          <a:xfrm>
            <a:off x="4686300" y="3406140"/>
            <a:ext cx="6553200" cy="1933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900" spc="37">
                <a:solidFill>
                  <a:srgbClr val="94A3B8"/>
                </a:solidFill>
                <a:latin typeface="Microsoft YaHei" panose="020B0503020204020204" charset="-122"/>
                <a:ea typeface="Microsoft YaHei" panose="020B0503020204020204" charset="-122"/>
              </a:rPr>
              <a:t>C CODE - SENSOR_DISPLAY_ALL()</a:t>
            </a:r>
            <a:endParaRPr sz="900" spc="37">
              <a:solidFill>
                <a:srgbClr val="94A3B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47"/>
            </p:custDataLst>
          </p:nvPr>
        </p:nvSpPr>
        <p:spPr>
          <a:xfrm>
            <a:off x="4686300" y="3663267"/>
            <a:ext cx="1738836" cy="2114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975">
                <a:solidFill>
                  <a:srgbClr val="C084FC"/>
                </a:solidFill>
                <a:latin typeface="Microsoft YaHei" panose="020B0503020204020204" charset="-122"/>
                <a:ea typeface="Microsoft YaHei" panose="020B0503020204020204" charset="-122"/>
              </a:rPr>
              <a:t>void</a:t>
            </a:r>
            <a:r>
              <a:rPr sz="315"/>
              <a:t> </a:t>
            </a:r>
            <a:r>
              <a:rPr sz="975">
                <a:solidFill>
                  <a:srgbClr val="60A5FA"/>
                </a:solidFill>
                <a:latin typeface="Microsoft YaHei" panose="020B0503020204020204" charset="-122"/>
                <a:ea typeface="Microsoft YaHei" panose="020B0503020204020204" charset="-122"/>
              </a:rPr>
              <a:t>Page_Sensor</a:t>
            </a:r>
            <a:r>
              <a:rPr sz="975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</a:rPr>
              <a:t>(</a:t>
            </a:r>
            <a:r>
              <a:rPr sz="975">
                <a:solidFill>
                  <a:srgbClr val="C084FC"/>
                </a:solidFill>
                <a:latin typeface="Microsoft YaHei" panose="020B0503020204020204" charset="-122"/>
                <a:ea typeface="Microsoft YaHei" panose="020B0503020204020204" charset="-122"/>
              </a:rPr>
              <a:t>void</a:t>
            </a:r>
            <a:r>
              <a:rPr sz="975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</a:rPr>
              <a:t>) {</a:t>
            </a:r>
            <a:endParaRPr sz="975">
              <a:solidFill>
                <a:srgbClr val="E2E8F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48"/>
            </p:custDataLst>
          </p:nvPr>
        </p:nvSpPr>
        <p:spPr>
          <a:xfrm>
            <a:off x="4766815" y="3861359"/>
            <a:ext cx="2123180" cy="2114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975">
                <a:solidFill>
                  <a:srgbClr val="60A5FA"/>
                </a:solidFill>
                <a:latin typeface="Microsoft YaHei" panose="020B0503020204020204" charset="-122"/>
                <a:ea typeface="Microsoft YaHei" panose="020B0503020204020204" charset="-122"/>
              </a:rPr>
              <a:t>Lcd_Clear</a:t>
            </a:r>
            <a:r>
              <a:rPr sz="975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</a:rPr>
              <a:t>(0,0,240,320,WHITE);</a:t>
            </a:r>
            <a:endParaRPr sz="975">
              <a:solidFill>
                <a:srgbClr val="E2E8F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49"/>
            </p:custDataLst>
          </p:nvPr>
        </p:nvSpPr>
        <p:spPr>
          <a:xfrm>
            <a:off x="4766815" y="4059450"/>
            <a:ext cx="1489481" cy="2114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975">
                <a:solidFill>
                  <a:srgbClr val="60A5FA"/>
                </a:solidFill>
                <a:latin typeface="Microsoft YaHei" panose="020B0503020204020204" charset="-122"/>
                <a:ea typeface="Microsoft YaHei" panose="020B0503020204020204" charset="-122"/>
              </a:rPr>
              <a:t>Sensor_Display_All</a:t>
            </a:r>
            <a:r>
              <a:rPr sz="975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</a:rPr>
              <a:t>();</a:t>
            </a:r>
            <a:endParaRPr sz="975">
              <a:solidFill>
                <a:srgbClr val="E2E8F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50"/>
            </p:custDataLst>
          </p:nvPr>
        </p:nvSpPr>
        <p:spPr>
          <a:xfrm>
            <a:off x="4686300" y="4257542"/>
            <a:ext cx="172050" cy="2114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975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</a:rPr>
              <a:t>}</a:t>
            </a:r>
            <a:endParaRPr sz="975">
              <a:solidFill>
                <a:srgbClr val="E2E8F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51"/>
            </p:custDataLst>
          </p:nvPr>
        </p:nvSpPr>
        <p:spPr>
          <a:xfrm>
            <a:off x="4686300" y="4653715"/>
            <a:ext cx="2073926" cy="211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975">
                <a:solidFill>
                  <a:srgbClr val="C084FC"/>
                </a:solidFill>
                <a:latin typeface="Microsoft YaHei" panose="020B0503020204020204" charset="-122"/>
                <a:ea typeface="Microsoft YaHei" panose="020B0503020204020204" charset="-122"/>
              </a:rPr>
              <a:t>void</a:t>
            </a:r>
            <a:r>
              <a:rPr sz="315"/>
              <a:t> </a:t>
            </a:r>
            <a:r>
              <a:rPr sz="975">
                <a:solidFill>
                  <a:srgbClr val="60A5FA"/>
                </a:solidFill>
                <a:latin typeface="Microsoft YaHei" panose="020B0503020204020204" charset="-122"/>
                <a:ea typeface="Microsoft YaHei" panose="020B0503020204020204" charset="-122"/>
              </a:rPr>
              <a:t>Sensor_Display_All</a:t>
            </a:r>
            <a:r>
              <a:rPr sz="975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</a:rPr>
              <a:t>(</a:t>
            </a:r>
            <a:r>
              <a:rPr sz="975">
                <a:solidFill>
                  <a:srgbClr val="C084FC"/>
                </a:solidFill>
                <a:latin typeface="Microsoft YaHei" panose="020B0503020204020204" charset="-122"/>
                <a:ea typeface="Microsoft YaHei" panose="020B0503020204020204" charset="-122"/>
              </a:rPr>
              <a:t>void</a:t>
            </a:r>
            <a:r>
              <a:rPr sz="975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</a:rPr>
              <a:t>) {</a:t>
            </a:r>
            <a:endParaRPr sz="975">
              <a:solidFill>
                <a:srgbClr val="E2E8F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52"/>
            </p:custDataLst>
          </p:nvPr>
        </p:nvSpPr>
        <p:spPr>
          <a:xfrm>
            <a:off x="4766815" y="4851807"/>
            <a:ext cx="2625328" cy="2114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975">
                <a:solidFill>
                  <a:srgbClr val="60A5FA"/>
                </a:solidFill>
                <a:latin typeface="Microsoft YaHei" panose="020B0503020204020204" charset="-122"/>
                <a:ea typeface="Microsoft YaHei" panose="020B0503020204020204" charset="-122"/>
              </a:rPr>
              <a:t>Flame_GetValue</a:t>
            </a:r>
            <a:r>
              <a:rPr sz="975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</a:rPr>
              <a:t>(); </a:t>
            </a:r>
            <a:r>
              <a:rPr sz="975" i="1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</a:rPr>
              <a:t>// PC1 = ADC1_IN11</a:t>
            </a:r>
            <a:endParaRPr sz="975" i="1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53"/>
            </p:custDataLst>
          </p:nvPr>
        </p:nvSpPr>
        <p:spPr>
          <a:xfrm>
            <a:off x="4766815" y="5049898"/>
            <a:ext cx="2600925" cy="2114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975">
                <a:solidFill>
                  <a:srgbClr val="60A5FA"/>
                </a:solidFill>
                <a:latin typeface="Microsoft YaHei" panose="020B0503020204020204" charset="-122"/>
                <a:ea typeface="Microsoft YaHei" panose="020B0503020204020204" charset="-122"/>
              </a:rPr>
              <a:t>ADC1_GetValue</a:t>
            </a:r>
            <a:r>
              <a:rPr sz="975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</a:rPr>
              <a:t>(); </a:t>
            </a:r>
            <a:r>
              <a:rPr sz="975" i="1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</a:rPr>
              <a:t>// PC0 = ADC1_IN10</a:t>
            </a:r>
            <a:endParaRPr sz="975" i="1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54"/>
            </p:custDataLst>
          </p:nvPr>
        </p:nvSpPr>
        <p:spPr>
          <a:xfrm>
            <a:off x="4766815" y="5247989"/>
            <a:ext cx="3319910" cy="2114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975">
                <a:solidFill>
                  <a:srgbClr val="60A5FA"/>
                </a:solidFill>
                <a:latin typeface="Microsoft YaHei" panose="020B0503020204020204" charset="-122"/>
                <a:ea typeface="Microsoft YaHei" panose="020B0503020204020204" charset="-122"/>
              </a:rPr>
              <a:t>Lcd_ZikuStr</a:t>
            </a:r>
            <a:r>
              <a:rPr sz="975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</a:rPr>
              <a:t>(10, 65, RED, WHITE, 16, </a:t>
            </a:r>
            <a:r>
              <a:rPr lang="en-US" sz="975">
                <a:solidFill>
                  <a:srgbClr val="4ADE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"</a:t>
            </a:r>
            <a:r>
              <a:rPr lang="zh-CN" altLang="en-US" sz="975">
                <a:solidFill>
                  <a:srgbClr val="4ADE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火焰传感器</a:t>
            </a:r>
            <a:r>
              <a:rPr lang="en-US" altLang="zh-CN" sz="975">
                <a:solidFill>
                  <a:srgbClr val="4ADE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:"</a:t>
            </a:r>
            <a:r>
              <a:rPr sz="975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</a:rPr>
              <a:t>);</a:t>
            </a:r>
            <a:endParaRPr sz="975">
              <a:solidFill>
                <a:srgbClr val="E2E8F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55"/>
            </p:custDataLst>
          </p:nvPr>
        </p:nvSpPr>
        <p:spPr>
          <a:xfrm>
            <a:off x="4766815" y="5446081"/>
            <a:ext cx="2750201" cy="2114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975">
                <a:solidFill>
                  <a:srgbClr val="60A5FA"/>
                </a:solidFill>
                <a:latin typeface="Microsoft YaHei" panose="020B0503020204020204" charset="-122"/>
                <a:ea typeface="Microsoft YaHei" panose="020B0503020204020204" charset="-122"/>
              </a:rPr>
              <a:t>sprintf</a:t>
            </a:r>
            <a:r>
              <a:rPr sz="975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</a:rPr>
              <a:t>(disp_buff, </a:t>
            </a:r>
            <a:r>
              <a:rPr sz="975">
                <a:solidFill>
                  <a:srgbClr val="4ADE80"/>
                </a:solidFill>
                <a:latin typeface="Microsoft YaHei" panose="020B0503020204020204" charset="-122"/>
                <a:ea typeface="Microsoft YaHei" panose="020B0503020204020204" charset="-122"/>
              </a:rPr>
              <a:t>"%.1f%%"</a:t>
            </a:r>
            <a:r>
              <a:rPr sz="975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</a:rPr>
              <a:t>, flame_value);</a:t>
            </a:r>
            <a:endParaRPr sz="975">
              <a:solidFill>
                <a:srgbClr val="E2E8F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56"/>
            </p:custDataLst>
          </p:nvPr>
        </p:nvSpPr>
        <p:spPr>
          <a:xfrm>
            <a:off x="4766815" y="5644172"/>
            <a:ext cx="3121819" cy="2114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975">
                <a:solidFill>
                  <a:srgbClr val="60A5FA"/>
                </a:solidFill>
                <a:latin typeface="Microsoft YaHei" panose="020B0503020204020204" charset="-122"/>
                <a:ea typeface="Microsoft YaHei" panose="020B0503020204020204" charset="-122"/>
              </a:rPr>
              <a:t>Lcd_ZikuStr</a:t>
            </a:r>
            <a:r>
              <a:rPr sz="975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</a:rPr>
              <a:t>(10, 85, RED, WHITE, 16, disp_buff);</a:t>
            </a:r>
            <a:endParaRPr sz="975">
              <a:solidFill>
                <a:srgbClr val="E2E8F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57"/>
            </p:custDataLst>
          </p:nvPr>
        </p:nvSpPr>
        <p:spPr>
          <a:xfrm>
            <a:off x="4766815" y="5842264"/>
            <a:ext cx="2034483" cy="2114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975" i="1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/* </a:t>
            </a:r>
            <a:r>
              <a:rPr lang="zh-CN" altLang="en-US" sz="975" i="1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每秒刷新</a:t>
            </a:r>
            <a:r>
              <a:rPr lang="en-US" altLang="zh-CN" sz="975" i="1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(sht30_flag</a:t>
            </a:r>
            <a:r>
              <a:rPr lang="zh-CN" altLang="en-US" sz="975" i="1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控制</a:t>
            </a:r>
            <a:r>
              <a:rPr lang="en-US" altLang="zh-CN" sz="975" i="1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) */</a:t>
            </a:r>
            <a:endParaRPr lang="en-US" altLang="zh-CN" sz="975" i="1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58"/>
            </p:custDataLst>
          </p:nvPr>
        </p:nvSpPr>
        <p:spPr>
          <a:xfrm>
            <a:off x="4686300" y="6040355"/>
            <a:ext cx="6553200" cy="2114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975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</a:rPr>
              <a:t>}</a:t>
            </a:r>
            <a:endParaRPr sz="975">
              <a:solidFill>
                <a:srgbClr val="E2E8F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3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9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0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1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52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</Words>
  <Application>WPS 演示</Application>
  <PresentationFormat>宽屏</PresentationFormat>
  <Paragraphs>64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Calibri Light</vt:lpstr>
      <vt:lpstr>微软雅黑</vt:lpstr>
      <vt:lpstr>Calibri</vt:lpstr>
      <vt:lpstr>Microsoft YaHei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 </cp:lastModifiedBy>
  <dcterms:created xsi:type="dcterms:W3CDTF">2026-07-29T07:01:33Z</dcterms:created>
  <dcterms:modified xsi:type="dcterms:W3CDTF">2026-07-29T07:01:33Z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2052-12.9.0.25365</vt:lpwstr>
  </property>
  <property fmtid="{D5CDD505-2E9C-101B-9397-08002B2CF9AE}" pid="3" name="ICV">
    <vt:lpwstr>680A522149866B0D4DA5696AE61AA6D9_41</vt:lpwstr>
  </property>
  <property fmtid="{D5CDD505-2E9C-101B-9397-08002B2CF9AE}" pid="4" name="KSOAIPPTCode">
    <vt:lpwstr>HqKKoLpNXtNN3LclRRhDf42oKUBIuB5R5NH927M7L8oMarr9fqQQQoqFcFhAF1irGu4GcrXLY0+dytKGOgUfLHz2A6W6KBT12GuTFsnBjyiY/oi2c4OBQUE8422FAyqbzw4dBqZ0NLPYPOj9MKU3VvLEewX6CAv8dZHNm9DM2x2eBxDwX6VViUsQZErtlldeaNXaBg8jopsBBOu/lW7WfGFm6qjECAkRKmud6Co/EVPbIET/QHOwpIGF2JqL8wkb2Gki9IAW9jdoAj3N4b8OTRebJPpmyeimLbdkPYwICLAOF/kP+pCd0DIj9twRfK3mY7jZD5f41J7ckJbNrwiwkA==</vt:lpwstr>
  </property>
</Properties>
</file>